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961120" y="640080"/>
            <a:ext cx="2194560" cy="2194560"/>
          </a:xfrm>
          <a:prstGeom prst="ellipse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9784080" y="2011680"/>
            <a:ext cx="1371600" cy="1371600"/>
          </a:xfrm>
          <a:prstGeom prst="ellipse">
            <a:avLst/>
          </a:prstGeom>
          <a:solidFill>
            <a:srgbClr val="5C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/>
          <p:cNvSpPr/>
          <p:nvPr/>
        </p:nvSpPr>
        <p:spPr>
          <a:xfrm>
            <a:off x="8138160" y="3108960"/>
            <a:ext cx="914400" cy="914400"/>
          </a:xfrm>
          <a:prstGeom prst="ellipse">
            <a:avLst/>
          </a:prstGeom>
          <a:solidFill>
            <a:srgbClr val="A8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621792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5CDC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CONVERSATION INTELLIGENCE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76656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NEXORA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60320"/>
            <a:ext cx="6492240" cy="960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A8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Conversation Intelligence
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794760"/>
            <a:ext cx="612648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centralized interface for exploring conversation records,
activity summaries, leadership insights, and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5303520"/>
            <a:ext cx="2560320" cy="713232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240" y="5468112"/>
            <a:ext cx="54864" cy="384048"/>
          </a:xfrm>
          <a:prstGeom prst="rect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8408" y="5468112"/>
            <a:ext cx="219456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5897880"/>
            <a:ext cx="21945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566160" y="5303520"/>
            <a:ext cx="2560320" cy="713232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566160" y="5468112"/>
            <a:ext cx="54864" cy="384048"/>
          </a:xfrm>
          <a:prstGeom prst="rect">
            <a:avLst/>
          </a:prstGeom>
          <a:solidFill>
            <a:srgbClr val="4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67328" y="5468112"/>
            <a:ext cx="219456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Conversation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5897880"/>
            <a:ext cx="21945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55079" y="5303520"/>
            <a:ext cx="2560320" cy="713232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355079" y="5468112"/>
            <a:ext cx="54864" cy="384048"/>
          </a:xfrm>
          <a:prstGeom prst="rect">
            <a:avLst/>
          </a:prstGeom>
          <a:solidFill>
            <a:srgbClr val="4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56247" y="5468112"/>
            <a:ext cx="219456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Leadership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7" y="5897880"/>
            <a:ext cx="21945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143999" y="5303520"/>
            <a:ext cx="2560320" cy="713232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143999" y="5468112"/>
            <a:ext cx="54864" cy="384048"/>
          </a:xfrm>
          <a:prstGeom prst="rect">
            <a:avLst/>
          </a:prstGeom>
          <a:solidFill>
            <a:srgbClr val="41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45167" y="5468112"/>
            <a:ext cx="2194560" cy="3693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7" y="5897880"/>
            <a:ext cx="2194560" cy="40011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endParaRPr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04672" y="6428232"/>
            <a:ext cx="6217920" cy="24622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>
                <a:solidFill>
                  <a:srgbClr val="BECA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28232"/>
            <a:ext cx="411480" cy="2539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50" b="1">
                <a:solidFill>
                  <a:srgbClr val="BECA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 |  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54864"/>
          </a:xfrm>
          <a:prstGeom prst="rect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A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Nexora is designed to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BECAE5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5120640" cy="10058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Nexora is a web-based dashboard that organizes conversation-related information into a clear, navigable workspace.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4846320" cy="83099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brings source-record summaries, conversation exploration, leadership insights, and data management together under one consistent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423160" cy="150876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126480" y="1993392"/>
            <a:ext cx="54864" cy="1179576"/>
          </a:xfrm>
          <a:prstGeom prst="rect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327648" y="1993392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2423160"/>
            <a:ext cx="205740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shared place to explore available records.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423160" cy="150876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823960" y="1993392"/>
            <a:ext cx="54864" cy="1179576"/>
          </a:xfrm>
          <a:prstGeom prst="rect">
            <a:avLst/>
          </a:prstGeom>
          <a:solidFill>
            <a:srgbClr val="5C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25128" y="1993392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navigation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25128" y="2423160"/>
            <a:ext cx="205740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sections separated by purpose.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657600"/>
            <a:ext cx="2423160" cy="150876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26480" y="3822191"/>
            <a:ext cx="54864" cy="1179576"/>
          </a:xfrm>
          <a:prstGeom prst="rect">
            <a:avLst/>
          </a:prstGeom>
          <a:solidFill>
            <a:srgbClr val="A8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27648" y="3822191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hierarchy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251960"/>
            <a:ext cx="205740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 and activity are easier to scan.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3657600"/>
            <a:ext cx="2423160" cy="150876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823960" y="3822191"/>
            <a:ext cx="54864" cy="1179576"/>
          </a:xfrm>
          <a:prstGeom prst="rect">
            <a:avLst/>
          </a:prstGeom>
          <a:solidFill>
            <a:srgbClr val="FFA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25128" y="3822191"/>
            <a:ext cx="20574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Extensible 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25128" y="4251960"/>
            <a:ext cx="205740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expanded with further analytics.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806440"/>
            <a:ext cx="105156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5CDC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goal: make conversation data easier to explore and present.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 |  Dashboard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54864"/>
          </a:xfrm>
          <a:prstGeom prst="rect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A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Four main sections in the Nexora workspace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BECAE5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074920" cy="160020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1993392"/>
            <a:ext cx="54864" cy="1271016"/>
          </a:xfrm>
          <a:prstGeom prst="rect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Executive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709159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metrics, unique source-record counts, and selected-record activity.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074920" cy="160020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993392"/>
            <a:ext cx="54864" cy="1271016"/>
          </a:xfrm>
          <a:prstGeom prst="rect">
            <a:avLst/>
          </a:prstGeom>
          <a:solidFill>
            <a:srgbClr val="5C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Conversation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23160"/>
            <a:ext cx="4709159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Dedicated space to review conversation records and available transcript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886200"/>
            <a:ext cx="5074920" cy="160020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31520" y="4050791"/>
            <a:ext cx="54864" cy="1271016"/>
          </a:xfrm>
          <a:prstGeom prst="rect">
            <a:avLst/>
          </a:prstGeom>
          <a:solidFill>
            <a:srgbClr val="A8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2688" y="4050791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Leadership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80560"/>
            <a:ext cx="4709159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section for exploring leadership-related information and observations from available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886200"/>
            <a:ext cx="5074920" cy="160020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17920" y="4050791"/>
            <a:ext cx="54864" cy="1271016"/>
          </a:xfrm>
          <a:prstGeom prst="rect">
            <a:avLst/>
          </a:prstGeom>
          <a:solidFill>
            <a:srgbClr val="FFA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19088" y="4050791"/>
            <a:ext cx="47091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480560"/>
            <a:ext cx="4709159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workspace for reviewing underlying data and handling dataset-related updates.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424160" cy="29238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>
                <a:solidFill>
                  <a:srgbClr val="BECA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sidebar keeps navigation consistent across the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 |  Design &amp; Technology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54864"/>
          </a:xfrm>
          <a:prstGeom prst="rect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A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choices and implementation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BECAE5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66344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5CDC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4754880" cy="18364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EF1F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Dark navy top bar and sidebar</a:t>
            </a:r>
          </a:p>
          <a:p>
            <a:pPr>
              <a:spcAft>
                <a:spcPts val="1000"/>
              </a:spcAft>
              <a:defRPr sz="1600">
                <a:solidFill>
                  <a:srgbClr val="EEF1F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Purple gradient for active navigation</a:t>
            </a:r>
          </a:p>
          <a:p>
            <a:pPr>
              <a:spcAft>
                <a:spcPts val="1000"/>
              </a:spcAft>
              <a:defRPr sz="1600">
                <a:solidFill>
                  <a:srgbClr val="EEF1F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High-contrast text and rounded cards</a:t>
            </a:r>
          </a:p>
          <a:p>
            <a:pPr>
              <a:spcAft>
                <a:spcPts val="1000"/>
              </a:spcAft>
              <a:defRPr sz="1600">
                <a:solidFill>
                  <a:srgbClr val="EEF1F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Clear grouping of metrics and sections</a:t>
            </a:r>
          </a:p>
          <a:p>
            <a:pPr>
              <a:spcAft>
                <a:spcPts val="1000"/>
              </a:spcAft>
              <a:defRPr sz="1600">
                <a:solidFill>
                  <a:srgbClr val="EEF1F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Responsive layout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828800"/>
            <a:ext cx="466344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5CDC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331720"/>
            <a:ext cx="2331720" cy="114300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17920" y="2496312"/>
            <a:ext cx="54864" cy="813816"/>
          </a:xfrm>
          <a:prstGeom prst="rect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19088" y="249631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926079"/>
            <a:ext cx="19659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Structures the page and content.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2331720"/>
            <a:ext cx="2331720" cy="114300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23960" y="2496312"/>
            <a:ext cx="54864" cy="813816"/>
          </a:xfrm>
          <a:prstGeom prst="rect">
            <a:avLst/>
          </a:prstGeom>
          <a:solidFill>
            <a:srgbClr val="5C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25128" y="2496312"/>
            <a:ext cx="1965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25128" y="2926079"/>
            <a:ext cx="196596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 styling, layout, and theme.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4937760" cy="114300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920" y="3913631"/>
            <a:ext cx="54864" cy="813816"/>
          </a:xfrm>
          <a:prstGeom prst="rect">
            <a:avLst/>
          </a:prstGeom>
          <a:solidFill>
            <a:srgbClr val="A8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19088" y="3913631"/>
            <a:ext cx="457200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4343400"/>
            <a:ext cx="457200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interactive navigation and data presentation.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303520"/>
            <a:ext cx="475488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A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is delivered as a single HTML file with embedded styling and script.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 | 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54864"/>
          </a:xfrm>
          <a:prstGeom prst="rect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A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simple user journey through the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BECAE5"/>
                </a:solidFill>
                <a:latin typeface="Aptos"/>
              </a:rPr>
              <a:t>05</a:t>
            </a:r>
          </a:p>
        </p:txBody>
      </p:sp>
      <p:sp>
        <p:nvSpPr>
          <p:cNvPr id="6" name="Oval 5"/>
          <p:cNvSpPr/>
          <p:nvPr/>
        </p:nvSpPr>
        <p:spPr>
          <a:xfrm>
            <a:off x="1554480" y="1965960"/>
            <a:ext cx="685800" cy="685800"/>
          </a:xfrm>
          <a:prstGeom prst="ellipse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2121408"/>
            <a:ext cx="6858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23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2331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331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user lands on the workspace and sees the overview.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50008" y="2267712"/>
            <a:ext cx="1325880" cy="32004"/>
          </a:xfrm>
          <a:prstGeom prst="rect">
            <a:avLst/>
          </a:prstGeom>
          <a:solidFill>
            <a:srgbClr val="4A5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389120" y="1965960"/>
            <a:ext cx="685800" cy="685800"/>
          </a:xfrm>
          <a:prstGeom prst="ellipse">
            <a:avLst/>
          </a:prstGeom>
          <a:solidFill>
            <a:srgbClr val="5C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89120" y="2121408"/>
            <a:ext cx="6858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23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80360"/>
            <a:ext cx="2331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429000"/>
            <a:ext cx="2331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counts and selected-record activity are presented.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84648" y="2267712"/>
            <a:ext cx="1325880" cy="32004"/>
          </a:xfrm>
          <a:prstGeom prst="rect">
            <a:avLst/>
          </a:prstGeom>
          <a:solidFill>
            <a:srgbClr val="4A5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223759" y="1965960"/>
            <a:ext cx="685800" cy="685800"/>
          </a:xfrm>
          <a:prstGeom prst="ellipse">
            <a:avLst/>
          </a:prstGeom>
          <a:solidFill>
            <a:srgbClr val="A8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23759" y="2121408"/>
            <a:ext cx="6858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23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880360"/>
            <a:ext cx="2331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Navigate sections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29000"/>
            <a:ext cx="2331720" cy="6463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the sidebar to explore conversations, leadership insights, or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9288" y="2267712"/>
            <a:ext cx="1325880" cy="32004"/>
          </a:xfrm>
          <a:prstGeom prst="rect">
            <a:avLst/>
          </a:prstGeom>
          <a:solidFill>
            <a:srgbClr val="4A56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0058400" y="1965960"/>
            <a:ext cx="685800" cy="685800"/>
          </a:xfrm>
          <a:prstGeom prst="ellipse">
            <a:avLst/>
          </a:prstGeom>
          <a:solidFill>
            <a:srgbClr val="FFA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058400" y="2121408"/>
            <a:ext cx="68580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>
                <a:solidFill>
                  <a:srgbClr val="18234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2880360"/>
            <a:ext cx="2331720" cy="33855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 carefully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429000"/>
            <a:ext cx="2331720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depend on the available and complete source records.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166360"/>
            <a:ext cx="10287000" cy="73152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" y="5330952"/>
            <a:ext cx="54864" cy="402336"/>
          </a:xfrm>
          <a:prstGeom prst="rect">
            <a:avLst/>
          </a:prstGeom>
          <a:solidFill>
            <a:srgbClr val="5C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115568" y="5330952"/>
            <a:ext cx="99212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5760720"/>
            <a:ext cx="992124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Displayed information is only as reliable as the data supplied to the dashboard.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 |  Advantages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54864"/>
          </a:xfrm>
          <a:prstGeom prst="rect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A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Balanced assessment of the current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BECAE5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57800" cy="356616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1520" y="1993392"/>
            <a:ext cx="54864" cy="3236976"/>
          </a:xfrm>
          <a:prstGeom prst="rect">
            <a:avLst/>
          </a:prstGeom>
          <a:solidFill>
            <a:srgbClr val="5C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PROS  |  Strengths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489204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Centralizes conversation-related information
• Clear sections and easy sidebar navigation
• Professional, consistent visual design
• Makes record counts and activity easier to scan
• Provides a base for future analytics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5257800" cy="356616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1993392"/>
            <a:ext cx="54864" cy="3236976"/>
          </a:xfrm>
          <a:prstGeom prst="rect">
            <a:avLst/>
          </a:prstGeom>
          <a:solidFill>
            <a:srgbClr val="FFA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19088" y="1993392"/>
            <a:ext cx="489204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  | 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423160"/>
            <a:ext cx="4892040" cy="101566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Missing or incomplete transcripts limit analysis
• Insight quality depends on source-data quality
• Advanced AI analysis is not included by design alone
• Live updates need backend/API integration
• Accessibility and responsive behavior need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806440"/>
            <a:ext cx="1042416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A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are current-scope considerations; some can be addressed through future development.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23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881360" cy="507831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  |  Future Scope &amp; 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51560" cy="54864"/>
          </a:xfrm>
          <a:prstGeom prst="rect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789920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BECAE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foundation for richer conversation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46520"/>
            <a:ext cx="41148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000" b="1">
                <a:solidFill>
                  <a:srgbClr val="BECAE5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4754880" cy="307777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>
                <a:solidFill>
                  <a:srgbClr val="5CDCD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POTENTIAL ENHANCEMENTS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5120640" cy="18364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EF1F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Advanced search and filters</a:t>
            </a:r>
          </a:p>
          <a:p>
            <a:pPr>
              <a:spcAft>
                <a:spcPts val="1000"/>
              </a:spcAft>
              <a:defRPr sz="1600">
                <a:solidFill>
                  <a:srgbClr val="EEF1F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Interactive charts and exportable reports</a:t>
            </a:r>
          </a:p>
          <a:p>
            <a:pPr>
              <a:spcAft>
                <a:spcPts val="1000"/>
              </a:spcAft>
              <a:defRPr sz="1600">
                <a:solidFill>
                  <a:srgbClr val="EEF1F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Automated data refresh and backend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EEF1F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AI-assisted transcript summaries</a:t>
            </a:r>
          </a:p>
          <a:p>
            <a:pPr>
              <a:spcAft>
                <a:spcPts val="1000"/>
              </a:spcAft>
              <a:defRPr sz="1600">
                <a:solidFill>
                  <a:srgbClr val="EEF1FA"/>
                </a:solidFill>
                <a:latin typeface="Aptos"/>
              </a:defRPr>
            </a:pPr>
            <a:r>
              <a:rPr>
                <a:latin typeface="Times New Roman" panose="02020603050405020304" pitchFamily="18" charset="0"/>
                <a:cs typeface="Times New Roman" panose="02020603050405020304" pitchFamily="18" charset="0"/>
              </a:rPr>
              <a:t>•  Leadership trends and predictive analytics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965960"/>
            <a:ext cx="4846320" cy="182880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09360" y="2130552"/>
            <a:ext cx="54864" cy="1499616"/>
          </a:xfrm>
          <a:prstGeom prst="rect">
            <a:avLst/>
          </a:prstGeom>
          <a:solidFill>
            <a:srgbClr val="77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10528" y="2130552"/>
            <a:ext cx="44805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560320"/>
            <a:ext cx="4480559" cy="461665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Nexora provides a structured, professional interface for exploring conversation data and reviewing available activity.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160520"/>
            <a:ext cx="4846320" cy="1371600"/>
          </a:xfrm>
          <a:prstGeom prst="roundRect">
            <a:avLst/>
          </a:prstGeom>
          <a:solidFill>
            <a:srgbClr val="1E2A4E"/>
          </a:solidFill>
          <a:ln w="12700">
            <a:solidFill>
              <a:srgbClr val="3E4B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09360" y="4325112"/>
            <a:ext cx="54864" cy="1042416"/>
          </a:xfrm>
          <a:prstGeom prst="rect">
            <a:avLst/>
          </a:prstGeom>
          <a:solidFill>
            <a:srgbClr val="5CDC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10528" y="4325112"/>
            <a:ext cx="4480559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message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754880"/>
            <a:ext cx="4480559" cy="276999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EEF1F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navigation + organized data + room to scale.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80760"/>
            <a:ext cx="10332720" cy="353943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1">
                <a:solidFill>
                  <a:srgbClr val="A899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559</Words>
  <Application>Microsoft Office PowerPoint</Application>
  <PresentationFormat>Widescreen</PresentationFormat>
  <Paragraphs>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Kanish0261@outlook.com</cp:lastModifiedBy>
  <cp:revision>2</cp:revision>
  <dcterms:created xsi:type="dcterms:W3CDTF">2013-01-27T09:14:16Z</dcterms:created>
  <dcterms:modified xsi:type="dcterms:W3CDTF">2026-10-23T05:52:54Z</dcterms:modified>
  <cp:category/>
</cp:coreProperties>
</file>